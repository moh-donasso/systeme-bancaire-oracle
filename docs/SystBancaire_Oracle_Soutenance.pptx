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17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>
            <a:extLst>
              <a:ext uri="{FF2B5EF4-FFF2-40B4-BE49-F238E27FC236}">
                <a16:creationId xmlns:a16="http://schemas.microsoft.com/office/drawing/2014/main" id="{426C32F8-406A-8749-FCAD-105E895B5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  <a14:imgEffect>
                      <a14:brightnessContrast brigh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502920" y="11887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6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Système Bancaire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Oracle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28565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B89A"/>
                </a:solidFill>
              </a:rPr>
              <a:t>Base de Données Avancée avec PL/SQL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B89A"/>
                </a:solidFill>
              </a:rPr>
              <a:t>Encadrant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429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Pr. Yasser EL MADANI EL ALAMI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B89A"/>
                </a:solidFill>
              </a:rPr>
              <a:t>Étudiants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COULIBALY Donasso Mohamed— VASSOU Guidjinga Xavier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B89A"/>
                </a:solidFill>
              </a:rPr>
              <a:t>Année universitaire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2025 /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LA PRÉSENTATION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46304" cy="71323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33856"/>
            <a:ext cx="457200" cy="45720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Introduction &amp; Contexte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146304" cy="713232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133856"/>
            <a:ext cx="457200" cy="45720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04688" y="11704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Analyse &amp; Modélisation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96596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65960"/>
            <a:ext cx="146304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093976"/>
            <a:ext cx="457200" cy="45720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" y="2130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Architecture BD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96596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965960"/>
            <a:ext cx="146304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093976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04688" y="2130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Développement PL/SQL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26080"/>
            <a:ext cx="14630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05409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69848" y="30906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Administration Oracle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292608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26080"/>
            <a:ext cx="146304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3054096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04688" y="30906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Optimisation &amp; Performances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388620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86200"/>
            <a:ext cx="146304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014216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69848" y="40507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Module Détection de Fraude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388620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886200"/>
            <a:ext cx="146304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4014216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04688" y="40507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Tests &amp;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&amp; OBJECTIFS DU PROJET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858768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023360" cy="5486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Présentation générale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Projet de fin de module — Bases de Données Avancées (PL/SQL), CI1. Conception, implémentation et administration d'une base Oracle complète pour un système bancaire moderne.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474720" cy="36576"/>
          </a:xfrm>
          <a:prstGeom prst="rect">
            <a:avLst/>
          </a:prstGeom>
          <a:solidFill>
            <a:srgbClr val="2B7A78">
              <a:alpha val="50000"/>
            </a:srgbClr>
          </a:solidFill>
          <a:ln w="12700">
            <a:solidFill>
              <a:srgbClr val="2B7A7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Environnement technique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3072384"/>
            <a:ext cx="164592" cy="164592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6265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Oracle Database XE 21c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3511296"/>
            <a:ext cx="164592" cy="164592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015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Docker Desktop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3950208"/>
            <a:ext cx="164592" cy="164592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84048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VS Code + SQL Developer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4389120"/>
            <a:ext cx="164592" cy="164592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793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Git / GitHub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97680" cy="3858768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05840"/>
            <a:ext cx="4297680" cy="54864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15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Objectifs du projet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Concevoir un MCD complet pour domaine bancaire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21122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Implémenter avec Oracle Database 21c XE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2624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Développer objets PL/SQL : procédures, fonctions, triggers, packages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3136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Administrer Oracle : utilisateurs, rôles, audit, sécurité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36484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Optimiser via plans d'exécution et index spécialisés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Module intelligent de détection des transactions frauduleuses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&amp; MODÉLISATION — MCD / MLD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384048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99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</a:rPr>
              <a:t>Personnes physiques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id_client, nom, prénom, email, téléphone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399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</a:rPr>
              <a:t>Courant / Épargne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691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id_compte, numéro, type, solde, statut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60120"/>
            <a:ext cx="274320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960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VIREMENTS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399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</a:rPr>
              <a:t>Transferts entre comptes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691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id_virement, montant, date, statut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8803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80360"/>
            <a:ext cx="274320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880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319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</a:rPr>
              <a:t>Historique des opérations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id_transaction, type, montant, 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80360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880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CREDITS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319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</a:rPr>
              <a:t>Prêts accordés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id_credit, montant, taux, durée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8803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880360"/>
            <a:ext cx="27432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880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CARTES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319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</a:rPr>
              <a:t>Cartes bancaires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id_carte, numéro, type, expiration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DE LA BASE DE DONNÉES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169164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5486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115568"/>
            <a:ext cx="457200" cy="45720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68249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Utilisateurs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73152" cy="109728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0391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ROLES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212848"/>
            <a:ext cx="73152" cy="109728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8541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CLIENTS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359152"/>
            <a:ext cx="73152" cy="109728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3317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ADMINS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505456"/>
            <a:ext cx="73152" cy="109728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47802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HISTORIQUE_CONNEXIONS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1115568"/>
            <a:ext cx="457200" cy="45720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168249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2066544"/>
            <a:ext cx="73152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20391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COMPTES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212848"/>
            <a:ext cx="73152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218541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CARTES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1005840"/>
            <a:ext cx="2743200" cy="169164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1115568"/>
            <a:ext cx="457200" cy="45720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168249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Opérations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2066544"/>
            <a:ext cx="73152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20391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STATUTS_VIREMENT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55080" y="2212848"/>
            <a:ext cx="73152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218541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VIREMENTS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55080" y="2359152"/>
            <a:ext cx="73152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23317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2944368"/>
            <a:ext cx="2743200" cy="169164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2944368"/>
            <a:ext cx="274320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054096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20040" y="362102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Crédits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1480" y="4005072"/>
            <a:ext cx="73152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" y="39776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CREDITS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1480" y="4151376"/>
            <a:ext cx="73152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412394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ECHEANCES_CREDIT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4297680"/>
            <a:ext cx="73152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42702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PLAFONDS_CREDIT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0" y="2944368"/>
            <a:ext cx="2743200" cy="169164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0" y="2944368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43400" y="305409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340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291840" y="362102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Technique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383280" y="4005072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47872" y="39776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AUDIT_LOG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383280" y="4151376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47872" y="412394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ERROR_LOG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83280" y="4297680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47872" y="42702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ALERTES_FRAUDE</a:t>
            </a:r>
            <a:endParaRPr lang="en-US" sz="900" dirty="0"/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7964D488-7D2B-E9AD-3B91-10C2EFCB9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021" y="353899"/>
            <a:ext cx="5447701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INDEX, VUES &amp; SÉQUENCES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21762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20624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 — 6 index spécialisés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99032"/>
            <a:ext cx="64008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B-TREE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51560" y="1389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</a:rPr>
              <a:t>IDX_BTREE_TX_COMPTE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389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Recherche transactions par compte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64008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37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B-TREE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51560" y="1728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</a:rPr>
              <a:t>IDX_BTREE_VIR_DATE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1728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Filtrage virements par date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75688"/>
            <a:ext cx="64008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75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BITMAP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" y="20665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</a:rPr>
              <a:t>IDX_BITMAP_COMPTES_STATUT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20665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Statut (ACTIF/BLOQUE/FERME)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414016"/>
            <a:ext cx="64008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140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BITMAP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51560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</a:rPr>
              <a:t>IDX_BITMAP_COMPTES_TYPE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2404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Type COURANT/EPARGNE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2752344"/>
            <a:ext cx="64008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523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FONCT.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51560" y="2743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</a:rPr>
              <a:t>IDX_FUNC_CLIENTS_NOM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0" y="2743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Recherche UPPER(nom) insensible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960120"/>
            <a:ext cx="4206240" cy="21762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960120"/>
            <a:ext cx="4206240" cy="34747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VUES — Simple, Complexe, Matérialisée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1399032"/>
            <a:ext cx="658368" cy="2743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39903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SIMPLE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50408" y="1389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</a:rPr>
              <a:t>VUE_COMPTES_CLIENTS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60920" y="13898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Jointure COMPTES + CLIENTS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1810512"/>
            <a:ext cx="658368" cy="2743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81051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SIMPLE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550408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</a:rPr>
              <a:t>VUE_VIREMENTS_STATUTS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60920" y="18013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Lisibilité des transferts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2221992"/>
            <a:ext cx="658368" cy="27432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22199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COMPLEXE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550408" y="2212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</a:rPr>
              <a:t>VUE_STATS_TRANSACTIONS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60920" y="22128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COUNT, SUM, AVG, MAX, MIN par compte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00600" y="2633472"/>
            <a:ext cx="658368" cy="274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263347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MATÉRI.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550408" y="2624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</a:rPr>
              <a:t>MV_STATS_MENSUELLES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60920" y="2624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REFRESH ON DEMAND — tableaux de bord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28600" y="3291840"/>
            <a:ext cx="8686800" cy="160020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57200" y="3401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SÉQUENCES (9)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54880" y="3401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SYNONYMES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3749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B89A"/>
                </a:solidFill>
              </a:rPr>
              <a:t>SEQ_CLIENTS  •  SEQ_COMPTES  •  SEQ_VIREMENTS  •  SEQ_TRANSACTIONS  •  SEQ_CREDITS  •  SEQ_CARTES  •  SEQ_ALERTES_FRAUDE  •  SEQ_AUDIT_LOG  •  SEQ_ERROR_LOG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54880" y="3730752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Privés : COMPTES_CLIENTS, STATS_TRANSACTIONS, VIREMENTS_DETAIL, STATS_MENSUELLES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B89A"/>
                </a:solidFill>
              </a:rPr>
              <a:t>Publics : PUB_COMPTES, PUB_COMPTES_CLIENTS — accessibles à tous les utilisateurs autorisés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DÉVELOPPEMENT PL/SQL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93192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34640" cy="54864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07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PROCÉDURES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2651760" cy="960120"/>
          </a:xfrm>
          <a:prstGeom prst="rect">
            <a:avLst/>
          </a:prstGeom>
          <a:solidFill>
            <a:srgbClr val="1A2332"/>
          </a:solidFill>
          <a:ln w="9525">
            <a:solidFill>
              <a:srgbClr val="E865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819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50A"/>
                </a:solidFill>
              </a:rPr>
              <a:t>VALIDER_VIREMENT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8653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Virement sécurisé avec vérification solde, plafond, statut compte. Débit/crédit + audit.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633472"/>
            <a:ext cx="2651760" cy="960120"/>
          </a:xfrm>
          <a:prstGeom prst="rect">
            <a:avLst/>
          </a:prstGeom>
          <a:solidFill>
            <a:srgbClr val="1A2332"/>
          </a:solidFill>
          <a:ln w="9525">
            <a:solidFill>
              <a:srgbClr val="E865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91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50A"/>
                </a:solidFill>
              </a:rPr>
              <a:t>ANNULER_VIREMENT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96265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Annulation avec restauration automatique des soldes sur les deux comptes.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730752"/>
            <a:ext cx="2651760" cy="960120"/>
          </a:xfrm>
          <a:prstGeom prst="rect">
            <a:avLst/>
          </a:prstGeom>
          <a:solidFill>
            <a:srgbClr val="1A2332"/>
          </a:solidFill>
          <a:ln w="9525">
            <a:solidFill>
              <a:srgbClr val="E865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7764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50A"/>
                </a:solidFill>
              </a:rPr>
              <a:t>OUVRIR_COMPTE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405993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Création compte + dépôt initial obligatoire + numéro unique généré.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960120"/>
            <a:ext cx="2743200" cy="393192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960120"/>
            <a:ext cx="2743200" cy="5486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060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FONCTIONS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1536192"/>
            <a:ext cx="2560320" cy="960120"/>
          </a:xfrm>
          <a:prstGeom prst="rect">
            <a:avLst/>
          </a:prstGeom>
          <a:solidFill>
            <a:srgbClr val="1A2332"/>
          </a:solidFill>
          <a:ln w="9525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5819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</a:rPr>
              <a:t>CALCULER_TOTAL_COMPTE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93008" y="1883664"/>
            <a:ext cx="640080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188366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→ NUMBER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93008" y="210312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Total transactions d'un compte selon type et période.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633472"/>
            <a:ext cx="2560320" cy="960120"/>
          </a:xfrm>
          <a:prstGeom prst="rect">
            <a:avLst/>
          </a:prstGeom>
          <a:solidFill>
            <a:srgbClr val="1A2332"/>
          </a:solidFill>
          <a:ln w="9525">
            <a:solidFill>
              <a:srgbClr val="2B7A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6791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</a:rPr>
              <a:t>CALCULER_REMISE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93008" y="2980944"/>
            <a:ext cx="640080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98094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→ NUMBER (%)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493008" y="32004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Remise selon ancienneté, montant total et nombre de comptes.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3730752"/>
            <a:ext cx="2560320" cy="960120"/>
          </a:xfrm>
          <a:prstGeom prst="rect">
            <a:avLst/>
          </a:prstGeom>
          <a:solidFill>
            <a:srgbClr val="1A2332"/>
          </a:solidFill>
          <a:ln w="9525">
            <a:solidFill>
              <a:srgbClr val="2B7A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7764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</a:rPr>
              <a:t>COMPTE_DISPONIBLE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93008" y="4078224"/>
            <a:ext cx="640080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407822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→ VARCHAR2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493008" y="429768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Vérifie si un compte peut effectuer une opération d'un montant.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960120"/>
            <a:ext cx="2651760" cy="393192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96012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1060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PACKAGE PKG_VIREMENTS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1536192"/>
            <a:ext cx="4572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15361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CONST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903720" y="15270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SEUIL_MONTANT_ELEVE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55080" y="1956816"/>
            <a:ext cx="4572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1956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CONST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903720" y="19476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MAX_VIREMENTS_JOUR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55080" y="2377440"/>
            <a:ext cx="457200" cy="256032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23774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PROC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903720" y="236829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effectuer_virement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55080" y="2798064"/>
            <a:ext cx="457200" cy="256032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7980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PROC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903720" y="27889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annuler_virement_pkg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55080" y="3218688"/>
            <a:ext cx="457200" cy="256032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32186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PROC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903720" y="32095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suspendre_compte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55080" y="3639312"/>
            <a:ext cx="457200" cy="25603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36393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FUNC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903720" y="3630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get_solde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55080" y="4059936"/>
            <a:ext cx="457200" cy="25603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4059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FUNC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903720" y="40507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compter_virements_jour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55080" y="4480560"/>
            <a:ext cx="457200" cy="25603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44805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FUNC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903720" y="447141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verifier_plafond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5 TRIGGERS PL/SQL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TRG_SOLDE_NEGATIF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1097280" cy="237744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BEFORE INSERT/UPDATE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00200" y="14630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Table : COMPTES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7922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Bloque toute opération résultant en un solde négatif ou sur compte fermé / bloqué.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98755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87552"/>
            <a:ext cx="2743200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9875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TRG_AUDIT_COMPTES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463040"/>
            <a:ext cx="1097280" cy="237744"/>
          </a:xfrm>
          <a:prstGeom prst="rect">
            <a:avLst/>
          </a:prstGeom>
          <a:solidFill>
            <a:srgbClr val="E8650A">
              <a:alpha val="40000"/>
            </a:srgbClr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4630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650A"/>
                </a:solidFill>
              </a:rPr>
              <a:t>AFTER UPDATE/DELETE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0" y="14630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Table : COMPTES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17922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Journalise toutes les modifications de comptes dans AUDIT_LOG avec ancien/nouveau valeur.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98755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987552"/>
            <a:ext cx="2743200" cy="384048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9875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TRG_AUDIT_VIREMENTS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463040"/>
            <a:ext cx="1097280" cy="237744"/>
          </a:xfrm>
          <a:prstGeom prst="rect">
            <a:avLst/>
          </a:prstGeom>
          <a:solidFill>
            <a:srgbClr val="2B7A78">
              <a:alpha val="40000"/>
            </a:srgbClr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4630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7A78"/>
                </a:solidFill>
              </a:rPr>
              <a:t>AFTER UPDATE/DELETE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543800" y="14630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Table : VIREMENTS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0" y="17922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Journalise toutes les modifications de virements dans AUDIT_LOG avec horodatage.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99923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999232"/>
            <a:ext cx="274320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999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TRG_DATE_MODIF_*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1097280" cy="237744"/>
          </a:xfrm>
          <a:prstGeom prst="rect">
            <a:avLst/>
          </a:prstGeom>
          <a:solidFill>
            <a:srgbClr val="2980B9">
              <a:alpha val="40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4747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980B9"/>
                </a:solidFill>
              </a:rPr>
              <a:t>BEFORE UPDATE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00200" y="3474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Table : 4 tables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380390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Met à jour automatiquement la colonne DATE_MODIFICATION sur 4 tables à chaque UPDATE.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299923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999232"/>
            <a:ext cx="274320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2999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TRG_DETECTION_FRAUDE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37560" y="3474720"/>
            <a:ext cx="1097280" cy="237744"/>
          </a:xfrm>
          <a:prstGeom prst="rect">
            <a:avLst/>
          </a:prstGeom>
          <a:solidFill>
            <a:srgbClr val="8E44AD">
              <a:alpha val="4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4747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E44AD"/>
                </a:solidFill>
              </a:rPr>
              <a:t>AFTER INSERT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0" y="3474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Table : TRANSACTIONS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7560" y="380390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Génère une alerte dans ALERTES_FRAUDE pour toute transaction supérieure à 10 000 MAD.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ADMINISTRATION ORACLE &amp; OPTIMISATION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206240" cy="393192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420624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Administration Oracle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3931920" cy="548640"/>
          </a:xfrm>
          <a:prstGeom prst="rect">
            <a:avLst/>
          </a:prstGeom>
          <a:solidFill>
            <a:srgbClr val="1A2332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54480"/>
            <a:ext cx="137160" cy="54864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910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</a:rPr>
              <a:t>GESTIONNAIRE_COMPTES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SELECT, UPDATE — COMPTES, VIREMENTS, CLIENTS, CARTES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3931920" cy="548640"/>
          </a:xfrm>
          <a:prstGeom prst="rect">
            <a:avLst/>
          </a:prstGeom>
          <a:solidFill>
            <a:srgbClr val="1A2332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40280"/>
            <a:ext cx="137160" cy="54864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768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50A"/>
                </a:solidFill>
              </a:rPr>
              <a:t>CLIENT_APP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514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SELECT COMPTES, INSERT VIREMENTS + TRANSACTIONS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 Oracle activé sur 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511296"/>
            <a:ext cx="146304" cy="146304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10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AUDIT UPDATE ON COMPTES — modifications de soldes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3922776"/>
            <a:ext cx="146304" cy="146304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221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AUDIT DELETE ON VIREMENTS — suppressions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" y="4334256"/>
            <a:ext cx="146304" cy="146304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33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AUDIT INSERT ON TRANSACTIONS — toutes les transactions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994178"/>
            <a:ext cx="4206240" cy="393192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987552"/>
            <a:ext cx="4206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Optimisation</a:t>
            </a:r>
            <a:r>
              <a:rPr lang="en-US" sz="1200" b="1" dirty="0">
                <a:solidFill>
                  <a:srgbClr val="FFFFFF"/>
                </a:solidFill>
              </a:rPr>
              <a:t> des performances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572768"/>
            <a:ext cx="402336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572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Requête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1572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Sans index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1572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Avec index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01000" y="157276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Gain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1901952"/>
            <a:ext cx="4023360" cy="420624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93852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Transactions par compte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07608" y="193852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</a:rPr>
              <a:t>FULL TABLE SCAN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03720" y="19385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AE60"/>
                </a:solidFill>
              </a:rPr>
              <a:t>INDEX RANGE SCAN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909560" y="1993392"/>
            <a:ext cx="77724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199339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50%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2377440"/>
            <a:ext cx="4023360" cy="420624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41401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Virements par date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07608" y="24140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</a:rPr>
              <a:t>FULL TABLE SCAN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03720" y="24140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AE60"/>
                </a:solidFill>
              </a:rPr>
              <a:t>INDEX RANGE SCAN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909560" y="2468880"/>
            <a:ext cx="77724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246888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50%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2852928"/>
            <a:ext cx="4023360" cy="420624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288950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Comptes par statut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007608" y="28895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</a:rPr>
              <a:t>FULL TABLE SCAN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03720" y="28895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AE60"/>
                </a:solidFill>
              </a:rPr>
              <a:t>BITMAP INDEX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09560" y="2944368"/>
            <a:ext cx="77724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09560" y="29443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 70%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46320" y="3383280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Méthodologie : EXPLAIN PLAN avant/après index — comparaison coût FULL SCAN vs RANGE SCAN. Vue matérialisée MV_STATS_MENSUELLES en mode REFRESH ON DEMAND pour rapports.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INTELLIGENT — DÉTECTION DE FRAUDE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68580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3716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TRG_DETECTION_FRAUDE  —  Trigger AFTER INSERT sur TRANSACTIONS  —  Première ligne de défense automatique après chaque opération bancaire.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87452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874520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8745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Montant élevé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40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Condition 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5786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</a:rPr>
              <a:t>Transaction &gt; 10 000 MAD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852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Action 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Alerte MONTANT_ELEVE → ALERTES_FRAUDE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87452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874520"/>
            <a:ext cx="2743200" cy="38404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8745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Plafond dépassé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340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Condition 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5786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</a:rPr>
              <a:t>Virement &gt; plafond autorisé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852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Action 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0906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50A"/>
                </a:solidFill>
              </a:rPr>
              <a:t>Blocage par VALIDER_VIREMENT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87452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874520"/>
            <a:ext cx="274320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8745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Compte bloqué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340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 Condition 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25786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</a:rPr>
              <a:t>Opération sur compte BLOQUE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852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 Action 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0906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</a:rPr>
              <a:t>Blocage par TRG_SOLDE_NEGATIF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547872"/>
            <a:ext cx="8686800" cy="1371600"/>
          </a:xfrm>
          <a:prstGeom prst="rect">
            <a:avLst/>
          </a:prstGeom>
          <a:solidFill>
            <a:srgbClr val="1A233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547872"/>
            <a:ext cx="8686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39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 ALERTES_FRAUDE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398678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id_alerte  •  id_compte  •  id_transaction  •  type_alerte  •  montant  •  date_alerte  •  statut  •  description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36393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B89A"/>
                </a:solidFill>
              </a:rPr>
              <a:t>Statuts 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0" y="36393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OUVERTE  /  EN_COURS  /  RESOLUE  /  IGNOREE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3159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B89A"/>
                </a:solidFill>
              </a:rPr>
              <a:t>Colonne virtuelle PLAFOND_DISPONIBLE = PLAFOND_AUTORISE − PLAFOND_UTILISE  (calculée automatiquement, évite les incohérences)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 &amp; VALIDATION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Diapositive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393192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Données de test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99032"/>
            <a:ext cx="406908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99032"/>
            <a:ext cx="1051560" cy="384048"/>
          </a:xfrm>
          <a:prstGeom prst="rect">
            <a:avLst/>
          </a:prstGeom>
          <a:solidFill>
            <a:srgbClr val="2B7A78">
              <a:alpha val="30000"/>
            </a:srgbClr>
          </a:solidFill>
          <a:ln w="12700">
            <a:solidFill>
              <a:srgbClr val="2B7A7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89888" y="1481328"/>
            <a:ext cx="256032" cy="25603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1481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37360" y="14173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ADMIN, GESTIONNAIRE, AUDITEUR, SUPPORT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4069080" cy="384048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10512"/>
            <a:ext cx="1051560" cy="384048"/>
          </a:xfrm>
          <a:prstGeom prst="rect">
            <a:avLst/>
          </a:prstGeom>
          <a:solidFill>
            <a:srgbClr val="2B7A78">
              <a:alpha val="30000"/>
            </a:srgbClr>
          </a:solidFill>
          <a:ln w="12700">
            <a:solidFill>
              <a:srgbClr val="2B7A78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828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89888" y="1892808"/>
            <a:ext cx="256032" cy="25603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9888" y="1892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37360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Différentes anciennetés et profils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221992"/>
            <a:ext cx="406908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21992"/>
            <a:ext cx="1051560" cy="384048"/>
          </a:xfrm>
          <a:prstGeom prst="rect">
            <a:avLst/>
          </a:prstGeom>
          <a:solidFill>
            <a:srgbClr val="2B7A78">
              <a:alpha val="30000"/>
            </a:srgbClr>
          </a:solidFill>
          <a:ln w="12700">
            <a:solidFill>
              <a:srgbClr val="2B7A78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2402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89888" y="2304288"/>
            <a:ext cx="256032" cy="25603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9888" y="2304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37360" y="22402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Courants et épargne, statuts variés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633472"/>
            <a:ext cx="4069080" cy="384048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633472"/>
            <a:ext cx="1051560" cy="384048"/>
          </a:xfrm>
          <a:prstGeom prst="rect">
            <a:avLst/>
          </a:prstGeom>
          <a:solidFill>
            <a:srgbClr val="2B7A78">
              <a:alpha val="30000"/>
            </a:srgbClr>
          </a:solidFill>
          <a:ln w="12700">
            <a:solidFill>
              <a:srgbClr val="2B7A78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6517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CARTES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89888" y="2715768"/>
            <a:ext cx="256032" cy="25603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89888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37360" y="26517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VISA &amp; MASTERCARD, DEBIT &amp; CREDIT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044952"/>
            <a:ext cx="406908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044952"/>
            <a:ext cx="1051560" cy="384048"/>
          </a:xfrm>
          <a:prstGeom prst="rect">
            <a:avLst/>
          </a:prstGeom>
          <a:solidFill>
            <a:srgbClr val="2B7A78">
              <a:alpha val="30000"/>
            </a:srgbClr>
          </a:solidFill>
          <a:ln w="12700">
            <a:solidFill>
              <a:srgbClr val="2B7A78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063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VIREMENTS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89888" y="3127248"/>
            <a:ext cx="256032" cy="25603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89888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37360" y="3063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Validés, en attente, annulés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456432"/>
            <a:ext cx="4069080" cy="384048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456432"/>
            <a:ext cx="1051560" cy="384048"/>
          </a:xfrm>
          <a:prstGeom prst="rect">
            <a:avLst/>
          </a:prstGeom>
          <a:solidFill>
            <a:srgbClr val="2B7A78">
              <a:alpha val="30000"/>
            </a:srgbClr>
          </a:solidFill>
          <a:ln w="12700">
            <a:solidFill>
              <a:srgbClr val="2B7A78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4747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389888" y="3538728"/>
            <a:ext cx="256032" cy="25603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89888" y="3538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737360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5 transactions &gt; 10 000 MAD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867912"/>
            <a:ext cx="406908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867912"/>
            <a:ext cx="1051560" cy="384048"/>
          </a:xfrm>
          <a:prstGeom prst="rect">
            <a:avLst/>
          </a:prstGeom>
          <a:solidFill>
            <a:srgbClr val="2B7A78">
              <a:alpha val="30000"/>
            </a:srgbClr>
          </a:solidFill>
          <a:ln w="12700">
            <a:solidFill>
              <a:srgbClr val="2B7A78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8862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CREDITS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389888" y="3950208"/>
            <a:ext cx="256032" cy="25603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89888" y="3950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737360" y="38862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Immobilier, auto, personnel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279392"/>
            <a:ext cx="4069080" cy="384048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4279392"/>
            <a:ext cx="1051560" cy="384048"/>
          </a:xfrm>
          <a:prstGeom prst="rect">
            <a:avLst/>
          </a:prstGeom>
          <a:solidFill>
            <a:srgbClr val="2B7A78">
              <a:alpha val="30000"/>
            </a:srgbClr>
          </a:solidFill>
          <a:ln w="12700">
            <a:solidFill>
              <a:srgbClr val="2B7A78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2976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ECHEANCES_CREDIT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389888" y="4361688"/>
            <a:ext cx="256032" cy="25603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89888" y="4361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737360" y="4297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</a:rPr>
              <a:t>Payées et en attente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9160" y="960120"/>
            <a:ext cx="4206240" cy="3931920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09160" y="960120"/>
            <a:ext cx="42062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92040" y="960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Objets</a:t>
            </a:r>
            <a:r>
              <a:rPr lang="en-US" sz="1200" b="1" dirty="0">
                <a:solidFill>
                  <a:srgbClr val="FFFFFF"/>
                </a:solidFill>
              </a:rPr>
              <a:t> PL/SQL — tous VALID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754880" y="1399032"/>
            <a:ext cx="4069080" cy="3200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1399032"/>
            <a:ext cx="658368" cy="320040"/>
          </a:xfrm>
          <a:prstGeom prst="rect">
            <a:avLst/>
          </a:prstGeom>
          <a:solidFill>
            <a:srgbClr val="E8650A">
              <a:alpha val="60000"/>
            </a:srgbClr>
          </a:solidFill>
          <a:ln w="12700">
            <a:solidFill>
              <a:srgbClr val="E8650A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1417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650A"/>
                </a:solidFill>
              </a:rPr>
              <a:t>PROCEDURE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458968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VALIDER_VIREMENT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138160" y="1444752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0" y="144475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54880" y="1746504"/>
            <a:ext cx="4069080" cy="320040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54880" y="1746504"/>
            <a:ext cx="658368" cy="320040"/>
          </a:xfrm>
          <a:prstGeom prst="rect">
            <a:avLst/>
          </a:prstGeom>
          <a:solidFill>
            <a:srgbClr val="E8650A">
              <a:alpha val="60000"/>
            </a:srgbClr>
          </a:solidFill>
          <a:ln w="12700">
            <a:solidFill>
              <a:srgbClr val="E8650A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73168" y="17647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650A"/>
                </a:solidFill>
              </a:rPr>
              <a:t>PROCEDURE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458968" y="1764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ANNULER_VIREMENT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138160" y="1792224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38160" y="1792224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54880" y="2093976"/>
            <a:ext cx="4069080" cy="3200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54880" y="2093976"/>
            <a:ext cx="658368" cy="320040"/>
          </a:xfrm>
          <a:prstGeom prst="rect">
            <a:avLst/>
          </a:prstGeom>
          <a:solidFill>
            <a:srgbClr val="E8650A">
              <a:alpha val="60000"/>
            </a:srgbClr>
          </a:solidFill>
          <a:ln w="12700">
            <a:solidFill>
              <a:srgbClr val="E8650A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73168" y="21122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650A"/>
                </a:solidFill>
              </a:rPr>
              <a:t>PROCEDURE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458968" y="21122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OUVRIR_COMPTE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138160" y="2139696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38160" y="213969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754880" y="2441448"/>
            <a:ext cx="4069080" cy="320040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0" y="2441448"/>
            <a:ext cx="658368" cy="320040"/>
          </a:xfrm>
          <a:prstGeom prst="rect">
            <a:avLst/>
          </a:prstGeom>
          <a:solidFill>
            <a:srgbClr val="2B7A78">
              <a:alpha val="60000"/>
            </a:srgbClr>
          </a:solidFill>
          <a:ln w="12700">
            <a:solidFill>
              <a:srgbClr val="2B7A78">
                <a:alpha val="6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73168" y="24597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7A78"/>
                </a:solidFill>
              </a:rPr>
              <a:t>FUNCTION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458968" y="2459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CALCULER_TOTAL_COMPTE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138160" y="2487168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38160" y="248716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754880" y="2788920"/>
            <a:ext cx="4069080" cy="3200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54880" y="2788920"/>
            <a:ext cx="658368" cy="320040"/>
          </a:xfrm>
          <a:prstGeom prst="rect">
            <a:avLst/>
          </a:prstGeom>
          <a:solidFill>
            <a:srgbClr val="2B7A78">
              <a:alpha val="60000"/>
            </a:srgbClr>
          </a:solidFill>
          <a:ln w="12700">
            <a:solidFill>
              <a:srgbClr val="2B7A78">
                <a:alpha val="6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73168" y="28072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7A78"/>
                </a:solidFill>
              </a:rPr>
              <a:t>FUNCTION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458968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CALCULER_REMISE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138160" y="2834640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38160" y="2834640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754880" y="3136392"/>
            <a:ext cx="4069080" cy="320040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54880" y="3136392"/>
            <a:ext cx="658368" cy="320040"/>
          </a:xfrm>
          <a:prstGeom prst="rect">
            <a:avLst/>
          </a:prstGeom>
          <a:solidFill>
            <a:srgbClr val="2B7A78">
              <a:alpha val="60000"/>
            </a:srgbClr>
          </a:solidFill>
          <a:ln w="12700">
            <a:solidFill>
              <a:srgbClr val="2B7A78">
                <a:alpha val="6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73168" y="3154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7A78"/>
                </a:solidFill>
              </a:rPr>
              <a:t>FUNCTION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5458968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COMPTE_DISPONIBLE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138160" y="3182112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38160" y="31821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754880" y="3483864"/>
            <a:ext cx="4069080" cy="3200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0" y="3483864"/>
            <a:ext cx="658368" cy="32004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73168" y="35021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TRIGGER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458968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TRG_SOLDE_NEGATIF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138160" y="3529584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8160" y="3529584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4754880" y="3831336"/>
            <a:ext cx="4069080" cy="320040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0" y="3831336"/>
            <a:ext cx="658368" cy="32004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773168" y="38496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TRIGGER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5458968" y="3849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TRG_AUDIT_COMPTES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138160" y="3877056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38160" y="387705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4754880" y="4178808"/>
            <a:ext cx="4069080" cy="3200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54880" y="4178808"/>
            <a:ext cx="658368" cy="32004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73168" y="41970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TRIGGER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5458968" y="41970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TRG_DETECTION_FRAUDE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8138160" y="4224528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138160" y="422452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4754880" y="4526280"/>
            <a:ext cx="4069080" cy="320040"/>
          </a:xfrm>
          <a:prstGeom prst="rect">
            <a:avLst/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754880" y="4526280"/>
            <a:ext cx="658368" cy="320040"/>
          </a:xfrm>
          <a:prstGeom prst="rect">
            <a:avLst/>
          </a:prstGeom>
          <a:solidFill>
            <a:srgbClr val="8E44AD">
              <a:alpha val="60000"/>
            </a:srgbClr>
          </a:solidFill>
          <a:ln w="12700">
            <a:solidFill>
              <a:srgbClr val="8E44AD">
                <a:alpha val="6000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73168" y="4544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E44AD"/>
                </a:solidFill>
              </a:rPr>
              <a:t>PACKAGE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5458968" y="4544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PKG_VIREMENTS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8138160" y="4572000"/>
            <a:ext cx="59436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138160" y="4572000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>
            <a:extLst>
              <a:ext uri="{FF2B5EF4-FFF2-40B4-BE49-F238E27FC236}">
                <a16:creationId xmlns:a16="http://schemas.microsoft.com/office/drawing/2014/main" id="{5CBB3993-0744-0C82-644D-F555A6977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  <a14:imgEffect>
                      <a14:brightnessContrast brigh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2880360" y="137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807208" y="77266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6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RÉSUMÉ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4160520" cy="530352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737360"/>
            <a:ext cx="4160520" cy="530352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18888" y="173736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1D5DB"/>
                </a:solidFill>
              </a:rPr>
              <a:t>3 procédures, 3 fonctions, 5 triggers, 1 package PKG_VIREMENTS — tous VALID</a:t>
            </a:r>
            <a:endParaRPr lang="en-US" sz="1050" b="1" dirty="0"/>
          </a:p>
        </p:txBody>
      </p:sp>
      <p:sp>
        <p:nvSpPr>
          <p:cNvPr id="27" name="Shape 25"/>
          <p:cNvSpPr/>
          <p:nvPr/>
        </p:nvSpPr>
        <p:spPr>
          <a:xfrm>
            <a:off x="274320" y="1737360"/>
            <a:ext cx="4160520" cy="530352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78608"/>
            <a:ext cx="4160520" cy="530352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8888" y="257860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D5DB"/>
                </a:solidFill>
              </a:rPr>
              <a:t>Administration sécurisée : 2 rôles, 2 utilisateurs, audit Oracle activé</a:t>
            </a:r>
            <a:endParaRPr lang="en-US" sz="1100" b="1" dirty="0"/>
          </a:p>
        </p:txBody>
      </p:sp>
      <p:sp>
        <p:nvSpPr>
          <p:cNvPr id="23" name="Shape 21"/>
          <p:cNvSpPr/>
          <p:nvPr/>
        </p:nvSpPr>
        <p:spPr>
          <a:xfrm>
            <a:off x="274320" y="3328417"/>
            <a:ext cx="4160520" cy="530352"/>
          </a:xfrm>
          <a:prstGeom prst="rect">
            <a:avLst/>
          </a:prstGeom>
          <a:solidFill>
            <a:srgbClr val="24344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541237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D5DB"/>
                </a:solidFill>
              </a:rPr>
              <a:t>Optimisation &gt; 50–70% par index B-TREE / BITMAP / fonctionnels</a:t>
            </a:r>
            <a:endParaRPr lang="en-US" sz="1100" b="1" dirty="0"/>
          </a:p>
        </p:txBody>
      </p:sp>
      <p:sp>
        <p:nvSpPr>
          <p:cNvPr id="28" name="Text 26"/>
          <p:cNvSpPr/>
          <p:nvPr/>
        </p:nvSpPr>
        <p:spPr>
          <a:xfrm>
            <a:off x="365760" y="3328417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D5DB"/>
                </a:solidFill>
              </a:rPr>
              <a:t>Module fraude automatique : alertes temps réel &gt; 10 000 MAD</a:t>
            </a:r>
            <a:endParaRPr lang="en-US" sz="1100" b="1" dirty="0"/>
          </a:p>
        </p:txBody>
      </p:sp>
      <p:sp>
        <p:nvSpPr>
          <p:cNvPr id="30" name="Text 2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MERCI POUR VOTRE ATTENTION  •  Système Bancaire Oracle — ISMAGI — 2025/2026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732787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D5DB"/>
                </a:solidFill>
              </a:rPr>
              <a:t>Modélisation complète MCD/MLD — 15 tables relationnelles structurées</a:t>
            </a:r>
            <a:endParaRPr lang="en-US" sz="11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1317</Words>
  <Application>Microsoft Office PowerPoint</Application>
  <PresentationFormat>Affichage à l'écran (16:9)</PresentationFormat>
  <Paragraphs>306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BD Avancées Oracle</dc:title>
  <dc:subject>PptxGenJS Presentation</dc:subject>
  <dc:creator>PptxGenJS</dc:creator>
  <cp:lastModifiedBy>Donasso Mohamed COULIBALY</cp:lastModifiedBy>
  <cp:revision>3</cp:revision>
  <dcterms:created xsi:type="dcterms:W3CDTF">2026-05-20T20:02:46Z</dcterms:created>
  <dcterms:modified xsi:type="dcterms:W3CDTF">2026-05-20T21:55:41Z</dcterms:modified>
</cp:coreProperties>
</file>